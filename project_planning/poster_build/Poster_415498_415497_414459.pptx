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75213" cy="42803763"/>
  <p:notesSz cx="6858000" cy="9144000"/>
  <p:embeddedFontLst>
    <p:embeddedFont>
      <p:font typeface="Consolas" panose="020B0609020204030204" pitchFamily="49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F77B4"/>
    <a:srgbClr val="D62728"/>
    <a:srgbClr val="FF442B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320732-2E9B-4E56-8C34-DE30B48FAC38}">
  <a:tblStyle styleId="{99320732-2E9B-4E56-8C34-DE30B48FAC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1" d="100"/>
          <a:sy n="31" d="100"/>
        </p:scale>
        <p:origin x="657" y="-1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27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4f9f79a94_0_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4f9f79a94_0_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5425" tIns="455425" rIns="455425" bIns="455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ctr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Char char="●"/>
              <a:defRPr sz="9000">
                <a:solidFill>
                  <a:schemeClr val="dk2"/>
                </a:solidFill>
              </a:defRPr>
            </a:lvl1pPr>
            <a:lvl2pPr marL="914400" lvl="1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2pPr>
            <a:lvl3pPr marL="1371600" lvl="2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3pPr>
            <a:lvl4pPr marL="1828800" lvl="3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4pPr>
            <a:lvl5pPr marL="2286000" lvl="4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5pPr>
            <a:lvl6pPr marL="2743200" lvl="5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6pPr>
            <a:lvl7pPr marL="3200400" lvl="6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7pPr>
            <a:lvl8pPr marL="3657600" lvl="7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8pPr>
            <a:lvl9pPr marL="4114800" lvl="8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AFBB7FD3-3053-1F55-49B9-634183B3E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465" y="36035747"/>
            <a:ext cx="13115689" cy="608579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591FB18-18AA-F6EB-5D12-F33AA1F7EF30}"/>
              </a:ext>
            </a:extLst>
          </p:cNvPr>
          <p:cNvSpPr/>
          <p:nvPr/>
        </p:nvSpPr>
        <p:spPr>
          <a:xfrm>
            <a:off x="15586565" y="24496329"/>
            <a:ext cx="13802438" cy="5478183"/>
          </a:xfrm>
          <a:prstGeom prst="rect">
            <a:avLst/>
          </a:prstGeom>
          <a:noFill/>
          <a:ln w="76200">
            <a:solidFill>
              <a:srgbClr val="D62728"/>
            </a:solidFill>
          </a:ln>
          <a:effectLst>
            <a:outerShdw blurRad="63500" dist="38100" dir="2700000">
              <a:srgbClr val="FFFFFF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cs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60250" y="13212010"/>
            <a:ext cx="13463400" cy="2571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3000" dirty="0">
                <a:solidFill>
                  <a:schemeClr val="dk2"/>
                </a:solidFill>
              </a:rPr>
              <a:t>We use frozen </a:t>
            </a:r>
            <a:r>
              <a:rPr lang="en-CA" sz="3000" dirty="0" err="1">
                <a:solidFill>
                  <a:schemeClr val="dk2"/>
                </a:solidFill>
              </a:rPr>
              <a:t>OpenCLIP</a:t>
            </a:r>
            <a:r>
              <a:rPr lang="en-CA" sz="3000" dirty="0">
                <a:solidFill>
                  <a:schemeClr val="dk2"/>
                </a:solidFill>
              </a:rPr>
              <a:t> </a:t>
            </a:r>
            <a:r>
              <a:rPr lang="en-CA" sz="3000" dirty="0" err="1">
                <a:solidFill>
                  <a:schemeClr val="dk2"/>
                </a:solidFill>
              </a:rPr>
              <a:t>ViT</a:t>
            </a:r>
            <a:r>
              <a:rPr lang="en-CA" sz="3000" dirty="0">
                <a:solidFill>
                  <a:schemeClr val="dk2"/>
                </a:solidFill>
              </a:rPr>
              <a:t>-B/32 image and text encoders with a  lightweight fusion head</a:t>
            </a:r>
          </a:p>
          <a:p>
            <a:pPr lvl="0">
              <a:buClr>
                <a:schemeClr val="dk2"/>
              </a:buClr>
              <a:buSzPts val="4000"/>
            </a:pPr>
            <a:r>
              <a:rPr lang="en-CA" sz="3100" b="1" dirty="0" err="1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concat</a:t>
            </a:r>
            <a:r>
              <a:rPr lang="en-CA" sz="31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(t, v, |t - v|, t ⊙ v) → </a:t>
            </a:r>
            <a:r>
              <a:rPr lang="en-CA" sz="3100" b="1" dirty="0" err="1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LayerNorm</a:t>
            </a:r>
            <a:r>
              <a:rPr lang="en-CA" sz="31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→ MLP → p(hateful)</a:t>
            </a:r>
            <a:endParaRPr lang="en-CA" sz="3100" dirty="0">
              <a:solidFill>
                <a:schemeClr val="dk2"/>
              </a:solidFill>
              <a:highlight>
                <a:srgbClr val="EFEFEF"/>
              </a:highlight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 panose="020B0604020202020204" pitchFamily="34" charset="0"/>
              <a:buChar char="●"/>
            </a:pPr>
            <a:r>
              <a:rPr lang="en-CA" sz="3000" dirty="0">
                <a:solidFill>
                  <a:schemeClr val="dk2"/>
                </a:solidFill>
              </a:rPr>
              <a:t>Robust variants train on clean and perturbed views with BCE + consistency regularization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3400" y="1015974"/>
            <a:ext cx="29349900" cy="12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algn="ctr"/>
            <a:r>
              <a:rPr lang="en" sz="8000" b="1">
                <a:solidFill>
                  <a:srgbClr val="14326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Robust M3m3 </a:t>
            </a:r>
            <a:r>
              <a:rPr lang="en" sz="8000" b="1" err="1">
                <a:solidFill>
                  <a:srgbClr val="14326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H@te</a:t>
            </a:r>
            <a:r>
              <a:rPr lang="en" sz="8000" b="1">
                <a:solidFill>
                  <a:srgbClr val="14326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D3t3ct!on</a:t>
            </a:r>
            <a:br>
              <a:rPr lang="en" sz="8000">
                <a:solidFill>
                  <a:srgbClr val="143264"/>
                </a:solidFill>
              </a:rPr>
            </a:br>
            <a:r>
              <a:rPr lang="en-CA" sz="4400" i="1">
                <a:solidFill>
                  <a:srgbClr val="143264"/>
                </a:solidFill>
              </a:rPr>
              <a:t>Robustness of CLIP-fusion classifiers under naturalistic and adversarial perturbations</a:t>
            </a:r>
            <a:endParaRPr lang="en" sz="4400" i="1">
              <a:solidFill>
                <a:srgbClr val="143264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05174" y="32454144"/>
            <a:ext cx="13500000" cy="10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Validation / Results</a:t>
            </a:r>
            <a:endParaRPr sz="3600" b="1">
              <a:solidFill>
                <a:srgbClr val="143264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005174" y="10141491"/>
            <a:ext cx="13500000" cy="712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 b="1">
                <a:solidFill>
                  <a:srgbClr val="143264"/>
                </a:solidFill>
              </a:rPr>
              <a:t>Related works</a:t>
            </a:r>
            <a:endParaRPr sz="3600" b="1">
              <a:solidFill>
                <a:srgbClr val="14326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900" b="1">
              <a:solidFill>
                <a:srgbClr val="143264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33325" y="2886917"/>
            <a:ext cx="29349900" cy="8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" sz="4500">
                <a:solidFill>
                  <a:schemeClr val="dk1"/>
                </a:solidFill>
              </a:rPr>
              <a:t>Enric Guasch </a:t>
            </a:r>
            <a:r>
              <a:rPr lang="en" sz="4500" err="1">
                <a:solidFill>
                  <a:schemeClr val="dk1"/>
                </a:solidFill>
              </a:rPr>
              <a:t>Mesià</a:t>
            </a:r>
            <a:r>
              <a:rPr lang="en" sz="4500">
                <a:solidFill>
                  <a:schemeClr val="dk1"/>
                </a:solidFill>
              </a:rPr>
              <a:t>, Henrik Paul Gruber, Jane Klavir</a:t>
            </a:r>
            <a:endParaRPr sz="4500" baseline="300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33325" y="3541357"/>
            <a:ext cx="293499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Group 49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5194650" y="39886736"/>
            <a:ext cx="14285626" cy="265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b" anchorCtr="0">
            <a:noAutofit/>
          </a:bodyPr>
          <a:lstStyle/>
          <a:p>
            <a:pPr marL="508000" lvl="0" indent="0" algn="l" rtl="0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CA" sz="4900" b="1" dirty="0">
                <a:solidFill>
                  <a:srgbClr val="143264"/>
                </a:solidFill>
                <a:latin typeface="+mj-lt"/>
              </a:rPr>
              <a:t>References</a:t>
            </a:r>
          </a:p>
          <a:p>
            <a:pPr marL="508000"/>
            <a:r>
              <a:rPr lang="en-CA" sz="1900" dirty="0">
                <a:solidFill>
                  <a:schemeClr val="tx1"/>
                </a:solidFill>
                <a:latin typeface="+mj-lt"/>
              </a:rPr>
              <a:t>[1] D. Kiela et al., “The Hateful Memes Challenge: Detecting Hate Speech in Multimodal Memes,” in Advances in Neural Information Processing Systems, vol. 33, 2020, pp. 2611–2624.</a:t>
            </a:r>
          </a:p>
          <a:p>
            <a:pPr marL="508000" lvl="0"/>
            <a:r>
              <a:rPr lang="en-CA" sz="1900" dirty="0">
                <a:solidFill>
                  <a:schemeClr val="tx1"/>
                </a:solidFill>
                <a:latin typeface="+mj-lt"/>
              </a:rPr>
              <a:t>[2] A. Radford et al., “Learning Transferable Visual Models From Natural Language Supervision,” in Proceedings of the 38th International Conference     on Machine Learning, 2021, pp. 8748–8763.</a:t>
            </a:r>
          </a:p>
          <a:p>
            <a:pPr marL="508000" lvl="0"/>
            <a:r>
              <a:rPr lang="en-CA" sz="1900" dirty="0">
                <a:solidFill>
                  <a:schemeClr val="tx1"/>
                </a:solidFill>
                <a:latin typeface="+mj-lt"/>
              </a:rPr>
              <a:t>[3] G. K. Kumar and K. Nandakumar, “Hate-</a:t>
            </a:r>
            <a:r>
              <a:rPr lang="en-CA" sz="1900" dirty="0" err="1">
                <a:solidFill>
                  <a:schemeClr val="tx1"/>
                </a:solidFill>
                <a:latin typeface="+mj-lt"/>
              </a:rPr>
              <a:t>CLIPper</a:t>
            </a:r>
            <a:r>
              <a:rPr lang="en-CA" sz="1900" dirty="0">
                <a:solidFill>
                  <a:schemeClr val="tx1"/>
                </a:solidFill>
                <a:latin typeface="+mj-lt"/>
              </a:rPr>
              <a:t>: Multimodal Hateful Meme     Classification Based on Cross-modal Interaction of CLIP Features,” in     Proceedings of the Second Workshop on NLP for Positive Impact, 2022,     pp. 171–183.</a:t>
            </a:r>
          </a:p>
        </p:txBody>
      </p:sp>
      <p:sp>
        <p:nvSpPr>
          <p:cNvPr id="62" name="Google Shape;62;p13"/>
          <p:cNvSpPr/>
          <p:nvPr/>
        </p:nvSpPr>
        <p:spPr>
          <a:xfrm>
            <a:off x="15677872" y="33711897"/>
            <a:ext cx="13694141" cy="606146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925" tIns="101925" rIns="101925" bIns="101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63" name="Google Shape;63;p13"/>
          <p:cNvSpPr txBox="1"/>
          <p:nvPr/>
        </p:nvSpPr>
        <p:spPr>
          <a:xfrm>
            <a:off x="15677643" y="33720517"/>
            <a:ext cx="13499996" cy="134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Conclusion / Future Improvements</a:t>
            </a:r>
            <a:endParaRPr sz="3600" b="1">
              <a:solidFill>
                <a:srgbClr val="143264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997328" y="4582542"/>
            <a:ext cx="13537192" cy="5514869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1925" tIns="101925" rIns="101925" bIns="1019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65" name="Google Shape;65;p13"/>
          <p:cNvSpPr txBox="1"/>
          <p:nvPr/>
        </p:nvSpPr>
        <p:spPr>
          <a:xfrm>
            <a:off x="1041949" y="4636024"/>
            <a:ext cx="135000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Problem definition</a:t>
            </a:r>
            <a:endParaRPr sz="3600" b="1">
              <a:solidFill>
                <a:srgbClr val="143264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041950" y="41922022"/>
            <a:ext cx="9148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43264"/>
                </a:solidFill>
              </a:rPr>
              <a:t>EE-559: Deep Learning, 2026</a:t>
            </a:r>
            <a:endParaRPr sz="4000">
              <a:solidFill>
                <a:srgbClr val="143264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005174" y="12362326"/>
            <a:ext cx="135000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Method</a:t>
            </a:r>
            <a:endParaRPr sz="3600" b="1">
              <a:solidFill>
                <a:srgbClr val="143264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01381" y="22372642"/>
            <a:ext cx="135000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Datasets</a:t>
            </a:r>
            <a:endParaRPr sz="3600" b="1">
              <a:solidFill>
                <a:srgbClr val="143264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5655401" y="30026816"/>
            <a:ext cx="13500000" cy="10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925" tIns="101925" rIns="101925" bIns="101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b="1">
                <a:solidFill>
                  <a:srgbClr val="143264"/>
                </a:solidFill>
              </a:rPr>
              <a:t>Limitations</a:t>
            </a:r>
            <a:endParaRPr sz="3600" b="1">
              <a:solidFill>
                <a:srgbClr val="143264"/>
              </a:solidFill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175" y="1092669"/>
            <a:ext cx="3562148" cy="95330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>
            <a:off x="1041950" y="5427399"/>
            <a:ext cx="13463400" cy="458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>
              <a:buClr>
                <a:schemeClr val="dk2"/>
              </a:buClr>
              <a:buSzPts val="4000"/>
              <a:buFont typeface="Arial" panose="020B0604020202020204" pitchFamily="34" charset="0"/>
              <a:buChar char="•"/>
            </a:pPr>
            <a:r>
              <a:rPr lang="en-CA" sz="3600" dirty="0"/>
              <a:t>Hateful memes are compositional. Text or image alone may look benign, but together they can become hateful.</a:t>
            </a:r>
          </a:p>
          <a:p>
            <a:pPr marL="457200" lvl="0" indent="-457200">
              <a:buClr>
                <a:schemeClr val="dk2"/>
              </a:buClr>
              <a:buSzPts val="4000"/>
              <a:buFont typeface="Arial" panose="020B0604020202020204" pitchFamily="34" charset="0"/>
              <a:buChar char="•"/>
            </a:pPr>
            <a:r>
              <a:rPr lang="en-CA" sz="3600" dirty="0"/>
              <a:t>Users obfuscate: </a:t>
            </a:r>
            <a:r>
              <a:rPr lang="en-CA" sz="3600" dirty="0" err="1"/>
              <a:t>leetspeak</a:t>
            </a:r>
            <a:r>
              <a:rPr lang="en-CA" sz="3600" dirty="0"/>
              <a:t>, spacing, compression, brightness shifts preserve meaning but can flip model predictions.</a:t>
            </a:r>
          </a:p>
          <a:p>
            <a:pPr marL="457200" indent="-457200">
              <a:spcAft>
                <a:spcPts val="100"/>
              </a:spcAft>
              <a:buClr>
                <a:schemeClr val="dk2"/>
              </a:buClr>
              <a:buSzPts val="4000"/>
              <a:buFont typeface="Arial" panose="020B0604020202020204" pitchFamily="34" charset="0"/>
              <a:buChar char="•"/>
            </a:pPr>
            <a:r>
              <a:rPr lang="en-CA" sz="3600" dirty="0"/>
              <a:t>Adversaries attack: FGSM/PGD perturbations expose whether the classifier is truly robust or only suitable for clean data.</a:t>
            </a:r>
            <a:endParaRPr lang="en-CA" sz="3600" b="1" dirty="0">
              <a:solidFill>
                <a:srgbClr val="595959"/>
              </a:solidFill>
            </a:endParaRPr>
          </a:p>
          <a:p>
            <a:pPr marL="457200" indent="-457200">
              <a:spcAft>
                <a:spcPts val="100"/>
              </a:spcAft>
              <a:buClr>
                <a:schemeClr val="dk2"/>
              </a:buClr>
              <a:buSzPts val="4000"/>
              <a:buFont typeface="Arial" panose="020B0604020202020204" pitchFamily="34" charset="0"/>
              <a:buChar char="•"/>
            </a:pPr>
            <a:r>
              <a:rPr lang="en-CA" sz="3600" b="1" dirty="0"/>
              <a:t>⇒ Can a CLIP-based hate-meme detector stay reliable under both realistic and adversarial perturbations?</a:t>
            </a:r>
            <a:endParaRPr sz="3600" b="1" dirty="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023475" y="10856694"/>
            <a:ext cx="13668920" cy="178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2500" dirty="0">
                <a:solidFill>
                  <a:schemeClr val="dk2"/>
                </a:solidFill>
              </a:rPr>
              <a:t>Hateful Memes introduced controlled multimodal hate detection [1]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2500" dirty="0">
                <a:solidFill>
                  <a:schemeClr val="dk2"/>
                </a:solidFill>
              </a:rPr>
              <a:t>CLIP-style dual encoders are practical, reproducible baselines for robustness studies [2]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2500" dirty="0">
                <a:solidFill>
                  <a:schemeClr val="dk2"/>
                </a:solidFill>
              </a:rPr>
              <a:t>Fusion heads capture cross-modal interactions needed for compositional meme meaning [3]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2500" dirty="0">
                <a:solidFill>
                  <a:schemeClr val="dk2"/>
                </a:solidFill>
              </a:rPr>
              <a:t>TRADES loss function [4]</a:t>
            </a:r>
          </a:p>
        </p:txBody>
      </p:sp>
      <p:sp>
        <p:nvSpPr>
          <p:cNvPr id="73" name="Google Shape;73;p13"/>
          <p:cNvSpPr txBox="1"/>
          <p:nvPr/>
        </p:nvSpPr>
        <p:spPr>
          <a:xfrm>
            <a:off x="925660" y="33257372"/>
            <a:ext cx="13463400" cy="292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30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" sz="30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ldrop-p015</a:t>
            </a:r>
            <a:r>
              <a:rPr lang="en" sz="3000" dirty="0">
                <a:solidFill>
                  <a:schemeClr val="dk2"/>
                </a:solidFill>
              </a:rPr>
              <a:t> and </a:t>
            </a:r>
            <a:r>
              <a:rPr lang="en" sz="30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kldrop-p025</a:t>
            </a:r>
            <a:r>
              <a:rPr lang="en" sz="3000" dirty="0">
                <a:solidFill>
                  <a:schemeClr val="dk2"/>
                </a:solidFill>
              </a:rPr>
              <a:t> </a:t>
            </a:r>
            <a:r>
              <a:rPr lang="en-CA" sz="3000" dirty="0">
                <a:solidFill>
                  <a:schemeClr val="dk2"/>
                </a:solidFill>
              </a:rPr>
              <a:t>are the best default region: clean AUROC is preserved while image-only AUROC improves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3000" b="1" dirty="0">
                <a:solidFill>
                  <a:schemeClr val="dk2"/>
                </a:solidFill>
                <a:highlight>
                  <a:srgbClr val="EFEFE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kldrop-p050</a:t>
            </a:r>
            <a:r>
              <a:rPr lang="en-CA" sz="3000" dirty="0">
                <a:solidFill>
                  <a:schemeClr val="dk2"/>
                </a:solidFill>
              </a:rPr>
              <a:t> is the most robust under composite attacks, but pays a clean-AUROC cost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CA" sz="3000" dirty="0">
                <a:solidFill>
                  <a:schemeClr val="dk2"/>
                </a:solidFill>
              </a:rPr>
              <a:t>Mixed severity composite attacks behave like realistic medium-severity attacks, but not extreme stress tests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5826842" y="31053501"/>
            <a:ext cx="13418548" cy="2603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US" sz="3000" dirty="0">
                <a:solidFill>
                  <a:schemeClr val="dk2"/>
                </a:solidFill>
              </a:rPr>
              <a:t>Perturbations are label-preserving by design, but high-severity edits may become semantically ambiguous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US" sz="3000" dirty="0">
                <a:solidFill>
                  <a:schemeClr val="dk2"/>
                </a:solidFill>
              </a:rPr>
              <a:t>White-box PGD remains a hard threat; naturalistic robustness does not imply adversarial robustness</a:t>
            </a: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●"/>
            </a:pPr>
            <a:r>
              <a:rPr lang="en-US" sz="3000" dirty="0">
                <a:solidFill>
                  <a:schemeClr val="dk2"/>
                </a:solidFill>
              </a:rPr>
              <a:t>The model is a research prototype, not a deployable moderation system </a:t>
            </a:r>
          </a:p>
        </p:txBody>
      </p:sp>
      <p:sp>
        <p:nvSpPr>
          <p:cNvPr id="75" name="Google Shape;75;p13"/>
          <p:cNvSpPr txBox="1"/>
          <p:nvPr/>
        </p:nvSpPr>
        <p:spPr>
          <a:xfrm>
            <a:off x="15816983" y="34595164"/>
            <a:ext cx="13463400" cy="481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4000"/>
            </a:pPr>
            <a:r>
              <a:rPr lang="en-C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Robust hate meme detection requires more than high clean accuracy. A CLIP-fusion model can be made substantially more reliable under realistic text/image obfuscations using perturbation training and modality dropout. The best default is </a:t>
            </a:r>
            <a:r>
              <a:rPr lang="en-CA" sz="3000" b="1" i="0" u="none" strike="noStrike" dirty="0">
                <a:solidFill>
                  <a:srgbClr val="595959"/>
                </a:solidFill>
                <a:effectLst/>
                <a:highlight>
                  <a:srgbClr val="EFEFEF"/>
                </a:highlight>
                <a:latin typeface="Consolas" panose="020B0609020204030204" pitchFamily="49" charset="0"/>
              </a:rPr>
              <a:t>kldrop-p015/p025</a:t>
            </a:r>
            <a:r>
              <a:rPr lang="en-C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which restores image-branch usefulness without sacrificing clean AUROC. However, white-box adversarial attacks are a separate and harder robustness problem.</a:t>
            </a:r>
            <a:endParaRPr lang="en-CA" sz="3000" dirty="0">
              <a:solidFill>
                <a:schemeClr val="dk2"/>
              </a:solidFill>
            </a:endParaRPr>
          </a:p>
          <a:p>
            <a:pPr>
              <a:buSzPts val="4000"/>
            </a:pPr>
            <a:r>
              <a:rPr lang="en-CA" sz="3000" dirty="0">
                <a:solidFill>
                  <a:schemeClr val="dk2"/>
                </a:solidFill>
              </a:rPr>
              <a:t>Future work includes grey and </a:t>
            </a:r>
            <a:r>
              <a:rPr lang="en-CA" sz="3000" dirty="0" err="1">
                <a:solidFill>
                  <a:schemeClr val="dk2"/>
                </a:solidFill>
              </a:rPr>
              <a:t>blackbox</a:t>
            </a:r>
            <a:r>
              <a:rPr lang="en-CA" sz="3000" dirty="0">
                <a:solidFill>
                  <a:schemeClr val="dk2"/>
                </a:solidFill>
              </a:rPr>
              <a:t> adversarial attacks, which are expected to have less negative impact but are more realistic. Furthermore, a combined model that is resistant to all attacks analyzed in this project to ensure overall robustness.</a:t>
            </a:r>
          </a:p>
          <a:p>
            <a:pPr>
              <a:buSzPts val="4000"/>
            </a:pPr>
            <a:endParaRPr lang="en-CA" sz="3000" dirty="0">
              <a:solidFill>
                <a:schemeClr val="dk2"/>
              </a:solidFill>
            </a:endParaRPr>
          </a:p>
        </p:txBody>
      </p:sp>
      <p:graphicFrame>
        <p:nvGraphicFramePr>
          <p:cNvPr id="76" name="Google Shape;76;p13"/>
          <p:cNvGraphicFramePr/>
          <p:nvPr>
            <p:extLst>
              <p:ext uri="{D42A27DB-BD31-4B8C-83A1-F6EECF244321}">
                <p14:modId xmlns:p14="http://schemas.microsoft.com/office/powerpoint/2010/main" val="3594223215"/>
              </p:ext>
            </p:extLst>
          </p:nvPr>
        </p:nvGraphicFramePr>
        <p:xfrm>
          <a:off x="15844100" y="27923225"/>
          <a:ext cx="13305925" cy="1936900"/>
        </p:xfrm>
        <a:graphic>
          <a:graphicData uri="http://schemas.openxmlformats.org/drawingml/2006/table">
            <a:tbl>
              <a:tblPr>
                <a:noFill/>
                <a:tableStyleId>{99320732-2E9B-4E56-8C34-DE30B48FAC38}</a:tableStyleId>
              </a:tblPr>
              <a:tblGrid>
                <a:gridCol w="328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Clean AUROC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PGD L∞ AUROC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PGD L2 AUROC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0.74</a:t>
                      </a:r>
                      <a:endParaRPr lang="en-US" sz="30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~0.04</a:t>
                      </a:r>
                      <a:endParaRPr lang="en-US" sz="3000" b="0" i="0" u="none" strike="noStrike" noProof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0.7</a:t>
                      </a:r>
                      <a:endParaRPr lang="en-US" sz="30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adv-trained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0.73</a:t>
                      </a:r>
                      <a:endParaRPr lang="en-US" sz="30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 b="0" i="0" u="none" strike="noStrike" noProof="0" dirty="0">
                          <a:solidFill>
                            <a:schemeClr val="tx1"/>
                          </a:solidFill>
                          <a:latin typeface="Arial"/>
                          <a:ea typeface="Roboto"/>
                          <a:cs typeface="Arial"/>
                        </a:rPr>
                        <a:t>0.73</a:t>
                      </a:r>
                      <a:endParaRPr lang="en-US" sz="3000" b="0" i="0" u="none" strike="noStrike" noProof="0" dirty="0">
                        <a:solidFill>
                          <a:schemeClr val="tx1"/>
                        </a:solidFill>
                        <a:latin typeface="Arial"/>
                        <a:ea typeface="Roboto"/>
                        <a:cs typeface="Arial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2" name="Google Shape;8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89775" y="1129790"/>
            <a:ext cx="3033211" cy="12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1FB634-52C7-38FC-361B-AA1ED1DB0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6354671" y="10355556"/>
            <a:ext cx="11992839" cy="76518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4E85F31-42B9-3C8E-597E-5E5703905948}"/>
              </a:ext>
            </a:extLst>
          </p:cNvPr>
          <p:cNvSpPr txBox="1"/>
          <p:nvPr/>
        </p:nvSpPr>
        <p:spPr>
          <a:xfrm>
            <a:off x="17092378" y="9380956"/>
            <a:ext cx="9499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/>
              <a:t>Clean AUROC vs worst-case text robustness. 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kl-drop-p015/p025</a:t>
            </a:r>
            <a:r>
              <a:rPr lang="en-US" sz="2400" i="1"/>
              <a:t> preserve clean performance while improving robustness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C38A50-E3F3-C5FA-5D3A-C0B606E3102E}"/>
              </a:ext>
            </a:extLst>
          </p:cNvPr>
          <p:cNvSpPr txBox="1"/>
          <p:nvPr/>
        </p:nvSpPr>
        <p:spPr>
          <a:xfrm>
            <a:off x="17579440" y="17902574"/>
            <a:ext cx="949900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 dirty="0"/>
              <a:t>Text modality dropout revives the image branch: image-only AUROC rises while multimodal AUROC stays competitive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2C22C2-2608-CD4C-1864-C10BD8549DEF}"/>
              </a:ext>
            </a:extLst>
          </p:cNvPr>
          <p:cNvSpPr txBox="1"/>
          <p:nvPr/>
        </p:nvSpPr>
        <p:spPr>
          <a:xfrm>
            <a:off x="15827543" y="24572832"/>
            <a:ext cx="13239666" cy="33239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/>
              <a:t>Adversarial Training</a:t>
            </a:r>
          </a:p>
          <a:p>
            <a:r>
              <a:rPr lang="en-US" sz="3000"/>
              <a:t>White-box FGSM/PGD exposes a separate failure mode. The clean model collapses under L</a:t>
            </a:r>
            <a:r>
              <a:rPr lang="en" sz="3000"/>
              <a:t>∞</a:t>
            </a:r>
            <a:r>
              <a:rPr lang="en-US" sz="3000"/>
              <a:t> PGD, while L2 attacks are much less damaging. Adversarial training improves L</a:t>
            </a:r>
            <a:r>
              <a:rPr lang="en" sz="3000"/>
              <a:t>∞</a:t>
            </a:r>
            <a:r>
              <a:rPr lang="en-US" sz="3000"/>
              <a:t> robustness, but only when trained on a mix of clean and perturbed images; training only on perturbed images hurts clean performance more.</a:t>
            </a:r>
            <a:endParaRPr lang="en-US"/>
          </a:p>
          <a:p>
            <a:r>
              <a:rPr lang="en-US" sz="3000"/>
              <a:t>Hybrid and TRADES loss functions were used.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94259CD-2E14-701D-FEDF-C71A22B45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24014"/>
              </p:ext>
            </p:extLst>
          </p:nvPr>
        </p:nvGraphicFramePr>
        <p:xfrm>
          <a:off x="1083383" y="23252906"/>
          <a:ext cx="13814732" cy="1070460"/>
        </p:xfrm>
        <a:graphic>
          <a:graphicData uri="http://schemas.openxmlformats.org/drawingml/2006/table">
            <a:tbl>
              <a:tblPr firstRow="1" bandRow="1">
                <a:tableStyleId>{99320732-2E9B-4E56-8C34-DE30B48FAC38}</a:tableStyleId>
              </a:tblPr>
              <a:tblGrid>
                <a:gridCol w="3161363">
                  <a:extLst>
                    <a:ext uri="{9D8B030D-6E8A-4147-A177-3AD203B41FA5}">
                      <a16:colId xmlns:a16="http://schemas.microsoft.com/office/drawing/2014/main" val="2066201349"/>
                    </a:ext>
                  </a:extLst>
                </a:gridCol>
                <a:gridCol w="10653369">
                  <a:extLst>
                    <a:ext uri="{9D8B030D-6E8A-4147-A177-3AD203B41FA5}">
                      <a16:colId xmlns:a16="http://schemas.microsoft.com/office/drawing/2014/main" val="4035264876"/>
                    </a:ext>
                  </a:extLst>
                </a:gridCol>
              </a:tblGrid>
              <a:tr h="552300">
                <a:tc>
                  <a:txBody>
                    <a:bodyPr/>
                    <a:lstStyle/>
                    <a:p>
                      <a:r>
                        <a:rPr lang="en-US" sz="2800"/>
                        <a:t>Primary dataset: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2800">
                          <a:solidFill>
                            <a:schemeClr val="dk2"/>
                          </a:solidFill>
                        </a:rPr>
                        <a:t>Meta Hateful Memes</a:t>
                      </a:r>
                      <a:endParaRPr lang="en-US" sz="280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83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Supplementary: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2800" err="1">
                          <a:solidFill>
                            <a:schemeClr val="dk2"/>
                          </a:solidFill>
                        </a:rPr>
                        <a:t>MultiOFF</a:t>
                      </a:r>
                      <a:r>
                        <a:rPr lang="en-CA" sz="2800">
                          <a:solidFill>
                            <a:schemeClr val="dk2"/>
                          </a:solidFill>
                        </a:rPr>
                        <a:t>, MAMI, </a:t>
                      </a:r>
                      <a:r>
                        <a:rPr lang="en-CA" sz="2800" err="1">
                          <a:solidFill>
                            <a:schemeClr val="dk2"/>
                          </a:solidFill>
                        </a:rPr>
                        <a:t>HarMeme</a:t>
                      </a:r>
                      <a:endParaRPr lang="en-US" sz="2800"/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2929543"/>
                  </a:ext>
                </a:extLst>
              </a:tr>
            </a:tbl>
          </a:graphicData>
        </a:graphic>
      </p:graphicFrame>
      <p:pic>
        <p:nvPicPr>
          <p:cNvPr id="3" name="Imatge 2">
            <a:extLst>
              <a:ext uri="{FF2B5EF4-FFF2-40B4-BE49-F238E27FC236}">
                <a16:creationId xmlns:a16="http://schemas.microsoft.com/office/drawing/2014/main" id="{3DC0C0A2-1AE4-5207-FC8D-2EA6A17AC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38683" y="4625357"/>
            <a:ext cx="13785013" cy="485481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94F564-393C-2234-4ADA-D3B536EAD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9037" y="15783058"/>
            <a:ext cx="12725087" cy="4672493"/>
          </a:xfrm>
          <a:prstGeom prst="rect">
            <a:avLst/>
          </a:prstGeom>
        </p:spPr>
      </p:pic>
      <p:pic>
        <p:nvPicPr>
          <p:cNvPr id="2" name="Gràfic 1">
            <a:extLst>
              <a:ext uri="{FF2B5EF4-FFF2-40B4-BE49-F238E27FC236}">
                <a16:creationId xmlns:a16="http://schemas.microsoft.com/office/drawing/2014/main" id="{CA181EFA-5D63-10A7-C96A-EE2EEDE3B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7029" r="16032"/>
          <a:stretch>
            <a:fillRect/>
          </a:stretch>
        </p:blipFill>
        <p:spPr>
          <a:xfrm>
            <a:off x="15591411" y="18960967"/>
            <a:ext cx="12318892" cy="4567128"/>
          </a:xfrm>
          <a:prstGeom prst="rect">
            <a:avLst/>
          </a:prstGeom>
        </p:spPr>
      </p:pic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18224538-D633-86F0-8EE4-815E4AD70242}"/>
              </a:ext>
            </a:extLst>
          </p:cNvPr>
          <p:cNvSpPr txBox="1"/>
          <p:nvPr/>
        </p:nvSpPr>
        <p:spPr>
          <a:xfrm>
            <a:off x="1023475" y="20584959"/>
            <a:ext cx="13463400" cy="212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</a:pPr>
            <a:r>
              <a:rPr lang="en-CA" sz="3000" b="1">
                <a:solidFill>
                  <a:schemeClr val="dk2"/>
                </a:solidFill>
              </a:rPr>
              <a:t>Perturbations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</a:pPr>
            <a:r>
              <a:rPr lang="en-CA" sz="3000">
                <a:solidFill>
                  <a:schemeClr val="dk2"/>
                </a:solidFill>
              </a:rPr>
              <a:t>Common text perturbations (e.g. </a:t>
            </a:r>
            <a:r>
              <a:rPr lang="en-CA" sz="3000" err="1">
                <a:solidFill>
                  <a:schemeClr val="dk2"/>
                </a:solidFill>
              </a:rPr>
              <a:t>leetspeak</a:t>
            </a:r>
            <a:r>
              <a:rPr lang="en-CA" sz="3000">
                <a:solidFill>
                  <a:schemeClr val="dk2"/>
                </a:solidFill>
              </a:rPr>
              <a:t>, char deletion, spacing, etc.) and image perturbations (e.g. Gaussian noise/blur, compression, brightness shift, etc.) are applied at low, medium, and high severity levels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399D0-44B0-0135-B8A2-C4971DBD5450}"/>
              </a:ext>
            </a:extLst>
          </p:cNvPr>
          <p:cNvSpPr txBox="1"/>
          <p:nvPr/>
        </p:nvSpPr>
        <p:spPr>
          <a:xfrm>
            <a:off x="17861236" y="23413224"/>
            <a:ext cx="949900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2400" i="1" dirty="0"/>
              <a:t>Image-branch revival cuts FPs on benign memes that mention a protected group. Hateful-class recall preserved within seed noise.</a:t>
            </a:r>
            <a:endParaRPr lang="en-US" sz="2400" i="1" dirty="0"/>
          </a:p>
        </p:txBody>
      </p:sp>
      <p:sp>
        <p:nvSpPr>
          <p:cNvPr id="12" name="Google Shape;55;p13">
            <a:extLst>
              <a:ext uri="{FF2B5EF4-FFF2-40B4-BE49-F238E27FC236}">
                <a16:creationId xmlns:a16="http://schemas.microsoft.com/office/drawing/2014/main" id="{5DA1D609-35F4-4E08-990B-0B22830AC9EF}"/>
              </a:ext>
            </a:extLst>
          </p:cNvPr>
          <p:cNvSpPr txBox="1"/>
          <p:nvPr/>
        </p:nvSpPr>
        <p:spPr>
          <a:xfrm>
            <a:off x="1071120" y="26800201"/>
            <a:ext cx="13463400" cy="292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</a:pPr>
            <a:r>
              <a:rPr lang="en-CA" sz="3000" b="1" dirty="0">
                <a:solidFill>
                  <a:schemeClr val="dk2"/>
                </a:solidFill>
              </a:rPr>
              <a:t>Loss Functions</a:t>
            </a:r>
          </a:p>
          <a:p>
            <a:pPr marL="457200" lvl="1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 err="1"/>
              <a:t>Augonly</a:t>
            </a:r>
            <a:r>
              <a:rPr lang="en-GB" sz="3000" dirty="0"/>
              <a:t>: </a:t>
            </a:r>
            <a:br>
              <a:rPr lang="en-GB" sz="3000" dirty="0"/>
            </a:br>
            <a:r>
              <a:rPr lang="en-GB" sz="3000" dirty="0">
                <a:solidFill>
                  <a:schemeClr val="dk2"/>
                </a:solidFill>
              </a:rPr>
              <a:t>L = BCE(y, </a:t>
            </a:r>
            <a:r>
              <a:rPr lang="en-GB" sz="3000" dirty="0" err="1">
                <a:solidFill>
                  <a:schemeClr val="dk2"/>
                </a:solidFill>
              </a:rPr>
              <a:t>p_clean</a:t>
            </a:r>
            <a:r>
              <a:rPr lang="en-GB" sz="3000" dirty="0">
                <a:solidFill>
                  <a:schemeClr val="dk2"/>
                </a:solidFill>
              </a:rPr>
              <a:t>) + </a:t>
            </a:r>
            <a:r>
              <a:rPr lang="el-GR" sz="3000" dirty="0">
                <a:solidFill>
                  <a:schemeClr val="dk2"/>
                </a:solidFill>
              </a:rPr>
              <a:t>α · </a:t>
            </a:r>
            <a:r>
              <a:rPr lang="en-GB" sz="3000" dirty="0">
                <a:solidFill>
                  <a:schemeClr val="dk2"/>
                </a:solidFill>
              </a:rPr>
              <a:t>BCE(y, </a:t>
            </a:r>
            <a:r>
              <a:rPr lang="en-GB" sz="3000" dirty="0" err="1">
                <a:solidFill>
                  <a:schemeClr val="dk2"/>
                </a:solidFill>
              </a:rPr>
              <a:t>p_pert</a:t>
            </a:r>
            <a:r>
              <a:rPr lang="en-GB" sz="3000" dirty="0">
                <a:solidFill>
                  <a:schemeClr val="dk2"/>
                </a:solidFill>
              </a:rPr>
              <a:t>)</a:t>
            </a:r>
          </a:p>
          <a:p>
            <a:pPr marL="457200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/>
              <a:t>KL &amp; </a:t>
            </a:r>
            <a:r>
              <a:rPr lang="en-GB" sz="3000" dirty="0" err="1"/>
              <a:t>KLdrop</a:t>
            </a:r>
            <a:r>
              <a:rPr lang="en-GB" sz="3000" dirty="0"/>
              <a:t>:</a:t>
            </a:r>
            <a:br>
              <a:rPr lang="en-GB" sz="3000" dirty="0"/>
            </a:br>
            <a:r>
              <a:rPr lang="en-GB" sz="3000" dirty="0">
                <a:solidFill>
                  <a:schemeClr val="dk2"/>
                </a:solidFill>
              </a:rPr>
              <a:t>L = BCE(y, </a:t>
            </a:r>
            <a:r>
              <a:rPr lang="en-GB" sz="3000" dirty="0" err="1">
                <a:solidFill>
                  <a:schemeClr val="dk2"/>
                </a:solidFill>
              </a:rPr>
              <a:t>p_clean</a:t>
            </a:r>
            <a:r>
              <a:rPr lang="en-GB" sz="3000" dirty="0">
                <a:solidFill>
                  <a:schemeClr val="dk2"/>
                </a:solidFill>
              </a:rPr>
              <a:t>) + </a:t>
            </a:r>
            <a:r>
              <a:rPr lang="el-GR" sz="3000" dirty="0">
                <a:solidFill>
                  <a:schemeClr val="dk2"/>
                </a:solidFill>
              </a:rPr>
              <a:t>α · </a:t>
            </a:r>
            <a:r>
              <a:rPr lang="en-GB" sz="3000" dirty="0">
                <a:solidFill>
                  <a:schemeClr val="dk2"/>
                </a:solidFill>
              </a:rPr>
              <a:t>BCE(y, </a:t>
            </a:r>
            <a:r>
              <a:rPr lang="en-GB" sz="3000" dirty="0" err="1">
                <a:solidFill>
                  <a:schemeClr val="dk2"/>
                </a:solidFill>
              </a:rPr>
              <a:t>p_pert</a:t>
            </a:r>
            <a:r>
              <a:rPr lang="en-GB" sz="3000" dirty="0">
                <a:solidFill>
                  <a:schemeClr val="dk2"/>
                </a:solidFill>
              </a:rPr>
              <a:t>) + </a:t>
            </a:r>
            <a:r>
              <a:rPr lang="el-GR" sz="3000" dirty="0">
                <a:solidFill>
                  <a:schemeClr val="dk2"/>
                </a:solidFill>
              </a:rPr>
              <a:t>β · </a:t>
            </a:r>
            <a:r>
              <a:rPr lang="en-GB" sz="3000" dirty="0">
                <a:solidFill>
                  <a:schemeClr val="dk2"/>
                </a:solidFill>
              </a:rPr>
              <a:t>KL(</a:t>
            </a:r>
            <a:r>
              <a:rPr lang="en-GB" sz="3000" dirty="0" err="1">
                <a:solidFill>
                  <a:schemeClr val="dk2"/>
                </a:solidFill>
              </a:rPr>
              <a:t>p_clean</a:t>
            </a:r>
            <a:r>
              <a:rPr lang="en-GB" sz="3000" dirty="0">
                <a:solidFill>
                  <a:schemeClr val="dk2"/>
                </a:solidFill>
              </a:rPr>
              <a:t> ‖ </a:t>
            </a:r>
            <a:r>
              <a:rPr lang="en-GB" sz="3000" dirty="0" err="1">
                <a:solidFill>
                  <a:schemeClr val="dk2"/>
                </a:solidFill>
              </a:rPr>
              <a:t>p_pert</a:t>
            </a:r>
            <a:r>
              <a:rPr lang="en-GB" sz="3000" dirty="0">
                <a:solidFill>
                  <a:schemeClr val="dk2"/>
                </a:solidFill>
              </a:rPr>
              <a:t>)</a:t>
            </a:r>
            <a:endParaRPr lang="en-CA" sz="3000" dirty="0">
              <a:solidFill>
                <a:schemeClr val="dk2"/>
              </a:solidFill>
            </a:endParaRPr>
          </a:p>
          <a:p>
            <a:pPr lvl="0">
              <a:buClr>
                <a:schemeClr val="dk2"/>
              </a:buClr>
              <a:buSzPts val="4000"/>
            </a:pPr>
            <a:endParaRPr lang="en-CA" sz="3000" b="1" dirty="0">
              <a:solidFill>
                <a:schemeClr val="dk2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A9272E-2B9A-4FA7-BE4D-2FC02678A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08565"/>
              </p:ext>
            </p:extLst>
          </p:nvPr>
        </p:nvGraphicFramePr>
        <p:xfrm>
          <a:off x="997328" y="29288690"/>
          <a:ext cx="14197322" cy="3078480"/>
        </p:xfrm>
        <a:graphic>
          <a:graphicData uri="http://schemas.openxmlformats.org/drawingml/2006/table">
            <a:tbl>
              <a:tblPr firstRow="1" bandRow="1">
                <a:tableStyleId>{99320732-2E9B-4E56-8C34-DE30B48FAC38}</a:tableStyleId>
              </a:tblPr>
              <a:tblGrid>
                <a:gridCol w="14197322">
                  <a:extLst>
                    <a:ext uri="{9D8B030D-6E8A-4147-A177-3AD203B41FA5}">
                      <a16:colId xmlns:a16="http://schemas.microsoft.com/office/drawing/2014/main" val="833660938"/>
                    </a:ext>
                  </a:extLst>
                </a:gridCol>
              </a:tblGrid>
              <a:tr h="9771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1F77B4"/>
                          </a:solidFill>
                        </a:rPr>
                        <a:t>Splits: </a:t>
                      </a:r>
                      <a:r>
                        <a:rPr lang="en-CA" sz="2800" b="0" dirty="0">
                          <a:solidFill>
                            <a:schemeClr val="dk2"/>
                          </a:solidFill>
                        </a:rPr>
                        <a:t>T</a:t>
                      </a:r>
                      <a:r>
                        <a:rPr lang="en-CA" sz="2800" dirty="0">
                          <a:solidFill>
                            <a:schemeClr val="dk2"/>
                          </a:solidFill>
                        </a:rPr>
                        <a:t>rain: 8500</a:t>
                      </a:r>
                      <a:r>
                        <a:rPr lang="en-GB" sz="2800" dirty="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lang="en-CA" sz="2800" dirty="0">
                          <a:solidFill>
                            <a:schemeClr val="dk2"/>
                          </a:solidFill>
                        </a:rPr>
                        <a:t>(HM train). Eval: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CA" sz="2800" dirty="0">
                          <a:solidFill>
                            <a:schemeClr val="dk2"/>
                          </a:solidFill>
                        </a:rPr>
                        <a:t>dev (n=500, 36% pos),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2800" dirty="0" err="1">
                          <a:solidFill>
                            <a:schemeClr val="dk2"/>
                          </a:solidFill>
                        </a:rPr>
                        <a:t>test_seen</a:t>
                      </a:r>
                      <a:r>
                        <a:rPr lang="en-CA" sz="2800" dirty="0">
                          <a:solidFill>
                            <a:schemeClr val="dk2"/>
                          </a:solidFill>
                        </a:rPr>
                        <a:t> (n=1000, 49% pos) · </a:t>
                      </a:r>
                      <a:r>
                        <a:rPr lang="en-CA" sz="2800" dirty="0" err="1">
                          <a:solidFill>
                            <a:schemeClr val="dk2"/>
                          </a:solidFill>
                        </a:rPr>
                        <a:t>test_unseen</a:t>
                      </a:r>
                      <a:r>
                        <a:rPr lang="en-CA" sz="2800" dirty="0">
                          <a:solidFill>
                            <a:schemeClr val="dk2"/>
                          </a:solidFill>
                        </a:rPr>
                        <a:t>: (n=2000, 37% pos).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>
                          <a:solidFill>
                            <a:srgbClr val="1F77B4"/>
                          </a:solidFill>
                        </a:rPr>
                        <a:t>Metrics: </a:t>
                      </a:r>
                      <a:r>
                        <a:rPr lang="en-CA" sz="2800" b="0" dirty="0">
                          <a:solidFill>
                            <a:schemeClr val="dk2"/>
                          </a:solidFill>
                        </a:rPr>
                        <a:t>AUROC (primary, no threshold) · macro-f1 · ASR · worst cell ∆AUROC across families.</a:t>
                      </a:r>
                      <a:endParaRPr lang="en-US" sz="2800" dirty="0"/>
                    </a:p>
                    <a:p>
                      <a:r>
                        <a:rPr lang="en-US" sz="2800" b="1" dirty="0">
                          <a:solidFill>
                            <a:srgbClr val="1F77B4"/>
                          </a:solidFill>
                        </a:rPr>
                        <a:t>Threshold: </a:t>
                      </a:r>
                      <a:r>
                        <a:rPr lang="en-CA" sz="2800" b="0" dirty="0">
                          <a:solidFill>
                            <a:schemeClr val="dk2"/>
                          </a:solidFill>
                        </a:rPr>
                        <a:t>τ tuned on dev only (max macro-f1) · then frozen for test</a:t>
                      </a:r>
                    </a:p>
                    <a:p>
                      <a:r>
                        <a:rPr lang="en-US" sz="2800" b="1" dirty="0">
                          <a:solidFill>
                            <a:srgbClr val="1F77B4"/>
                          </a:solidFill>
                        </a:rPr>
                        <a:t>Uncertainty: </a:t>
                      </a:r>
                      <a:r>
                        <a:rPr lang="en-CA" sz="2800" b="0" dirty="0">
                          <a:solidFill>
                            <a:schemeClr val="dk2"/>
                          </a:solidFill>
                        </a:rPr>
                        <a:t>3-seed mean ± </a:t>
                      </a:r>
                      <a:r>
                        <a:rPr lang="el-GR" sz="2800" b="0" dirty="0">
                          <a:solidFill>
                            <a:schemeClr val="dk2"/>
                          </a:solidFill>
                        </a:rPr>
                        <a:t>σ</a:t>
                      </a:r>
                      <a:r>
                        <a:rPr lang="en-GB" sz="2800" b="0" dirty="0">
                          <a:solidFill>
                            <a:schemeClr val="dk2"/>
                          </a:solidFill>
                        </a:rPr>
                        <a:t> reported; bootstrap 95% CI on per-class disagreement-count percentages.</a:t>
                      </a:r>
                      <a:endParaRPr lang="en-US" sz="2800" b="1" dirty="0">
                        <a:solidFill>
                          <a:srgbClr val="1F77B4"/>
                        </a:solidFill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463071"/>
                  </a:ext>
                </a:extLst>
              </a:tr>
            </a:tbl>
          </a:graphicData>
        </a:graphic>
      </p:graphicFrame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37ECB65D-18C8-6CB7-E89E-D88955B3CC5A}"/>
              </a:ext>
            </a:extLst>
          </p:cNvPr>
          <p:cNvSpPr txBox="1"/>
          <p:nvPr/>
        </p:nvSpPr>
        <p:spPr>
          <a:xfrm>
            <a:off x="1023474" y="24423677"/>
            <a:ext cx="13463400" cy="292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</a:pPr>
            <a:r>
              <a:rPr lang="en-CA" sz="3000" b="1" dirty="0">
                <a:solidFill>
                  <a:schemeClr val="dk2"/>
                </a:solidFill>
              </a:rPr>
              <a:t>Metrics</a:t>
            </a:r>
          </a:p>
          <a:p>
            <a:pPr marL="457200" lvl="1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 err="1"/>
              <a:t>Augonly</a:t>
            </a:r>
            <a:r>
              <a:rPr lang="en-GB" sz="3000" dirty="0"/>
              <a:t>: </a:t>
            </a:r>
            <a:r>
              <a:rPr lang="en-GB" sz="3000" dirty="0">
                <a:solidFill>
                  <a:schemeClr val="dk2"/>
                </a:solidFill>
              </a:rPr>
              <a:t>Uses only Cross-entropy against golden label in loss function</a:t>
            </a:r>
          </a:p>
          <a:p>
            <a:pPr marL="457200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/>
              <a:t>KL: </a:t>
            </a:r>
            <a:r>
              <a:rPr lang="en-GB" sz="3000" dirty="0">
                <a:solidFill>
                  <a:schemeClr val="dk2"/>
                </a:solidFill>
              </a:rPr>
              <a:t>Adds </a:t>
            </a:r>
            <a:r>
              <a:rPr lang="en-GB" sz="3000" dirty="0" err="1">
                <a:solidFill>
                  <a:schemeClr val="dk2"/>
                </a:solidFill>
              </a:rPr>
              <a:t>Kullback</a:t>
            </a:r>
            <a:r>
              <a:rPr lang="en-GB" sz="3000" dirty="0">
                <a:solidFill>
                  <a:schemeClr val="dk2"/>
                </a:solidFill>
              </a:rPr>
              <a:t>-Leibler divergence measure in loss function</a:t>
            </a:r>
          </a:p>
          <a:p>
            <a:pPr marL="457200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 err="1"/>
              <a:t>KLdrop</a:t>
            </a:r>
            <a:r>
              <a:rPr lang="en-GB" sz="3000" dirty="0"/>
              <a:t>: </a:t>
            </a:r>
            <a:r>
              <a:rPr lang="en-GB" sz="3000" dirty="0">
                <a:solidFill>
                  <a:schemeClr val="dk2"/>
                </a:solidFill>
              </a:rPr>
              <a:t>Drops text encoding with probability p</a:t>
            </a:r>
          </a:p>
          <a:p>
            <a:pPr marL="457200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r>
              <a:rPr lang="en-GB" sz="3000" dirty="0" err="1"/>
              <a:t>KLlowmed</a:t>
            </a:r>
            <a:r>
              <a:rPr lang="en-GB" sz="3000" dirty="0"/>
              <a:t>: </a:t>
            </a:r>
            <a:r>
              <a:rPr lang="en-GB" sz="3000" dirty="0">
                <a:solidFill>
                  <a:schemeClr val="dk2"/>
                </a:solidFill>
              </a:rPr>
              <a:t>KL that only trains on low and middle severity perturbations</a:t>
            </a:r>
          </a:p>
          <a:p>
            <a:pPr marL="457200" indent="-457200">
              <a:buClr>
                <a:schemeClr val="dk2"/>
              </a:buClr>
              <a:buSzPct val="133000"/>
              <a:buFont typeface="Arial" panose="020B0604020202020204" pitchFamily="34" charset="0"/>
              <a:buChar char="●"/>
            </a:pPr>
            <a:endParaRPr lang="en-CA" sz="3000" dirty="0">
              <a:solidFill>
                <a:schemeClr val="dk2"/>
              </a:solidFill>
            </a:endParaRPr>
          </a:p>
          <a:p>
            <a:pPr lvl="0">
              <a:buClr>
                <a:schemeClr val="dk2"/>
              </a:buClr>
              <a:buSzPts val="4000"/>
            </a:pPr>
            <a:endParaRPr lang="en-CA" sz="30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942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Consolas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Enric Guasch Mesià</dc:creator>
  <cp:lastModifiedBy>Enric Guasch Mesià</cp:lastModifiedBy>
  <cp:revision>4</cp:revision>
  <dcterms:modified xsi:type="dcterms:W3CDTF">2026-05-22T07:06:13Z</dcterms:modified>
</cp:coreProperties>
</file>